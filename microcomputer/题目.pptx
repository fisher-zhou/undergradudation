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723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5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9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65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27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53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0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40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35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9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7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FF2C5-22D5-4C06-88E1-81B67F1AFC6B}" type="datetimeFigureOut">
              <a:rPr lang="zh-CN" altLang="en-US" smtClean="0"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AB836-41DD-44D8-AE03-A8413986E3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93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上机课程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680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343" y="169182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作业：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16" b="33174"/>
          <a:stretch/>
        </p:blipFill>
        <p:spPr>
          <a:xfrm>
            <a:off x="2458455" y="169182"/>
            <a:ext cx="8786488" cy="630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1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65125"/>
            <a:ext cx="9144000" cy="499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2815390" y="5442694"/>
            <a:ext cx="8229600" cy="1512168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0~9</a:t>
            </a:r>
            <a:r>
              <a:rPr lang="zh-CN" altLang="en-US" sz="2400" dirty="0">
                <a:solidFill>
                  <a:srgbClr val="FF0000"/>
                </a:solidFill>
              </a:rPr>
              <a:t>： </a:t>
            </a:r>
            <a:r>
              <a:rPr lang="en-US" altLang="zh-CN" sz="2400" dirty="0" smtClean="0">
                <a:solidFill>
                  <a:srgbClr val="FF0000"/>
                </a:solidFill>
              </a:rPr>
              <a:t>30H~39H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回车</a:t>
            </a:r>
            <a:r>
              <a:rPr lang="en-US" altLang="zh-CN" sz="2400" dirty="0">
                <a:solidFill>
                  <a:srgbClr val="FF0000"/>
                </a:solidFill>
              </a:rPr>
              <a:t>CR</a:t>
            </a:r>
            <a:r>
              <a:rPr lang="zh-CN" altLang="en-US" sz="2400" dirty="0">
                <a:solidFill>
                  <a:srgbClr val="FF0000"/>
                </a:solidFill>
              </a:rPr>
              <a:t>： </a:t>
            </a:r>
            <a:r>
              <a:rPr lang="en-US" altLang="zh-CN" sz="2400" dirty="0" smtClean="0">
                <a:solidFill>
                  <a:srgbClr val="FF0000"/>
                </a:solidFill>
              </a:rPr>
              <a:t>0DH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A~Z:  </a:t>
            </a:r>
            <a:r>
              <a:rPr lang="en-US" altLang="zh-CN" sz="2400" dirty="0" smtClean="0">
                <a:solidFill>
                  <a:srgbClr val="FF0000"/>
                </a:solidFill>
              </a:rPr>
              <a:t>41H~5AH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换行</a:t>
            </a:r>
            <a:r>
              <a:rPr lang="en-US" altLang="zh-CN" sz="2400" dirty="0">
                <a:solidFill>
                  <a:srgbClr val="FF0000"/>
                </a:solidFill>
              </a:rPr>
              <a:t>LF</a:t>
            </a:r>
            <a:r>
              <a:rPr lang="zh-CN" altLang="en-US" sz="2400" dirty="0">
                <a:solidFill>
                  <a:srgbClr val="FF0000"/>
                </a:solidFill>
              </a:rPr>
              <a:t>： </a:t>
            </a:r>
            <a:r>
              <a:rPr lang="en-US" altLang="zh-CN" sz="2400" dirty="0" smtClean="0">
                <a:solidFill>
                  <a:srgbClr val="FF0000"/>
                </a:solidFill>
              </a:rPr>
              <a:t>0AH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 err="1">
                <a:solidFill>
                  <a:srgbClr val="FF0000"/>
                </a:solidFill>
              </a:rPr>
              <a:t>a~z</a:t>
            </a:r>
            <a:r>
              <a:rPr lang="en-US" altLang="zh-CN" sz="2400" dirty="0">
                <a:solidFill>
                  <a:srgbClr val="FF0000"/>
                </a:solidFill>
              </a:rPr>
              <a:t>:  </a:t>
            </a:r>
            <a:r>
              <a:rPr lang="en-US" altLang="zh-CN" sz="2400" dirty="0" smtClean="0">
                <a:solidFill>
                  <a:srgbClr val="FF0000"/>
                </a:solidFill>
              </a:rPr>
              <a:t>61H~7AH            </a:t>
            </a:r>
            <a:r>
              <a:rPr lang="zh-CN" altLang="en-US" sz="2400" dirty="0" smtClean="0">
                <a:solidFill>
                  <a:srgbClr val="FF0000"/>
                </a:solidFill>
              </a:rPr>
              <a:t>退格</a:t>
            </a:r>
            <a:r>
              <a:rPr lang="en-US" altLang="zh-CN" sz="2400" dirty="0">
                <a:solidFill>
                  <a:srgbClr val="FF0000"/>
                </a:solidFill>
              </a:rPr>
              <a:t>BS</a:t>
            </a:r>
            <a:r>
              <a:rPr lang="zh-CN" altLang="en-US" sz="2400" dirty="0">
                <a:solidFill>
                  <a:srgbClr val="FF0000"/>
                </a:solidFill>
              </a:rPr>
              <a:t>： </a:t>
            </a:r>
            <a:r>
              <a:rPr lang="en-US" altLang="zh-CN" sz="2400" dirty="0" smtClean="0">
                <a:solidFill>
                  <a:srgbClr val="FF0000"/>
                </a:solidFill>
              </a:rPr>
              <a:t>08H</a:t>
            </a:r>
          </a:p>
          <a:p>
            <a:r>
              <a:rPr lang="en-US" altLang="zh-CN" sz="2400" dirty="0" smtClean="0">
                <a:solidFill>
                  <a:srgbClr val="FF0000"/>
                </a:solidFill>
              </a:rPr>
              <a:t>                                      Tab</a:t>
            </a:r>
            <a:r>
              <a:rPr lang="zh-CN" altLang="en-US" sz="2400" dirty="0">
                <a:solidFill>
                  <a:srgbClr val="FF0000"/>
                </a:solidFill>
              </a:rPr>
              <a:t>：    </a:t>
            </a:r>
            <a:r>
              <a:rPr lang="en-US" altLang="zh-CN" sz="2400" dirty="0" smtClean="0">
                <a:solidFill>
                  <a:srgbClr val="FF0000"/>
                </a:solidFill>
              </a:rPr>
              <a:t>09H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304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729343" y="169183"/>
            <a:ext cx="10515600" cy="11044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dirty="0" smtClean="0"/>
              <a:t>附录</a:t>
            </a:r>
            <a:r>
              <a:rPr lang="en-US" altLang="zh-CN" dirty="0" smtClean="0"/>
              <a:t>B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66798" y="1270641"/>
            <a:ext cx="101781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DOS   02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号功能</a:t>
            </a:r>
            <a:r>
              <a:rPr lang="zh-CN" altLang="en-US" sz="2800" b="1" dirty="0" smtClean="0"/>
              <a:t>：  </a:t>
            </a:r>
            <a:r>
              <a:rPr lang="zh-CN" altLang="en-US" sz="2000" b="1" dirty="0" smtClean="0"/>
              <a:t>将</a:t>
            </a:r>
            <a:r>
              <a:rPr lang="en-US" altLang="zh-CN" sz="2000" b="1" dirty="0" smtClean="0"/>
              <a:t>DL</a:t>
            </a:r>
            <a:r>
              <a:rPr lang="zh-CN" altLang="en-US" sz="2000" b="1" dirty="0" smtClean="0"/>
              <a:t>的内容代表的</a:t>
            </a:r>
            <a:r>
              <a:rPr lang="en-US" altLang="zh-CN" sz="2000" b="1" dirty="0" smtClean="0"/>
              <a:t>ASCII</a:t>
            </a:r>
            <a:r>
              <a:rPr lang="zh-CN" altLang="en-US" sz="2000" b="1" dirty="0" smtClean="0"/>
              <a:t>码显示到屏幕上</a:t>
            </a:r>
            <a:r>
              <a:rPr lang="en-US" altLang="zh-CN" sz="2000" b="1" dirty="0" smtClean="0"/>
              <a:t>    </a:t>
            </a:r>
          </a:p>
          <a:p>
            <a:r>
              <a:rPr lang="en-US" altLang="zh-CN" sz="2800" b="1" dirty="0" smtClean="0"/>
              <a:t>    MOV     AH, </a:t>
            </a:r>
            <a:r>
              <a:rPr lang="en-US" altLang="zh-CN" sz="2800" b="1" dirty="0">
                <a:solidFill>
                  <a:srgbClr val="FF0000"/>
                </a:solidFill>
              </a:rPr>
              <a:t>02H</a:t>
            </a:r>
          </a:p>
          <a:p>
            <a:r>
              <a:rPr lang="en-US" altLang="zh-CN" sz="2800" b="1" dirty="0" smtClean="0"/>
              <a:t>    MOV     DL,  0DH    ;     ASCII:  ODH:</a:t>
            </a:r>
            <a:r>
              <a:rPr lang="zh-CN" altLang="en-US" sz="2800" b="1" dirty="0" smtClean="0"/>
              <a:t>回车  </a:t>
            </a:r>
            <a:r>
              <a:rPr lang="en-US" altLang="zh-CN" sz="2800" b="1" dirty="0" smtClean="0"/>
              <a:t>0A</a:t>
            </a:r>
            <a:r>
              <a:rPr lang="zh-CN" altLang="en-US" sz="2800" b="1" dirty="0" smtClean="0"/>
              <a:t>：换行换到下面位置</a:t>
            </a:r>
          </a:p>
          <a:p>
            <a:r>
              <a:rPr lang="zh-CN" altLang="en-US" sz="2800" b="1" dirty="0" smtClean="0"/>
              <a:t>    </a:t>
            </a:r>
            <a:r>
              <a:rPr lang="en-US" altLang="zh-CN" sz="2800" b="1" dirty="0" smtClean="0"/>
              <a:t>INT       21H 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264263" y="3086523"/>
            <a:ext cx="70086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DOS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  09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号</a:t>
            </a:r>
            <a:r>
              <a:rPr lang="zh-CN" altLang="en-US" sz="2800" b="1" dirty="0">
                <a:solidFill>
                  <a:srgbClr val="FF0000"/>
                </a:solidFill>
              </a:rPr>
              <a:t>功能</a:t>
            </a:r>
            <a:r>
              <a:rPr lang="zh-CN" altLang="en-US" sz="2800" b="1" dirty="0" smtClean="0"/>
              <a:t>：</a:t>
            </a:r>
            <a:r>
              <a:rPr lang="zh-CN" altLang="en-US" sz="2000" b="1" dirty="0">
                <a:solidFill>
                  <a:srgbClr val="FF0000"/>
                </a:solidFill>
              </a:rPr>
              <a:t>显示存储器里的字符串， 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DS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DX</a:t>
            </a:r>
            <a:r>
              <a:rPr lang="en-US" altLang="zh-CN" sz="2000" b="1" dirty="0" smtClean="0"/>
              <a:t> </a:t>
            </a:r>
          </a:p>
          <a:p>
            <a:r>
              <a:rPr lang="en-US" altLang="zh-CN" sz="2800" b="1" dirty="0" smtClean="0"/>
              <a:t> MOV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09H</a:t>
            </a:r>
          </a:p>
          <a:p>
            <a:r>
              <a:rPr lang="en-US" altLang="zh-CN" sz="2800" b="1" dirty="0" smtClean="0"/>
              <a:t> INT       21H </a:t>
            </a:r>
            <a:endParaRPr lang="zh-CN" altLang="en-US" sz="2800" b="1" dirty="0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023257" y="3004332"/>
            <a:ext cx="9764485" cy="17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97" y="3840650"/>
            <a:ext cx="5582096" cy="26802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9343" y="4630968"/>
            <a:ext cx="6073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EG</a:t>
            </a:r>
            <a:r>
              <a:rPr lang="en-US" altLang="zh-CN" dirty="0" smtClean="0"/>
              <a:t>:</a:t>
            </a:r>
          </a:p>
          <a:p>
            <a:r>
              <a:rPr lang="en-US" altLang="zh-CN" dirty="0" err="1" smtClean="0"/>
              <a:t>string_main</a:t>
            </a:r>
            <a:r>
              <a:rPr lang="en-US" altLang="zh-CN" dirty="0" smtClean="0"/>
              <a:t>  </a:t>
            </a:r>
            <a:r>
              <a:rPr lang="en-US" altLang="zh-CN" dirty="0" err="1"/>
              <a:t>db</a:t>
            </a:r>
            <a:r>
              <a:rPr lang="en-US" altLang="zh-CN" dirty="0"/>
              <a:t> 'please input the </a:t>
            </a:r>
            <a:r>
              <a:rPr lang="en-US" altLang="zh-CN" dirty="0" smtClean="0"/>
              <a:t>function number(1~5</a:t>
            </a:r>
            <a:r>
              <a:rPr lang="en-US" altLang="zh-CN" dirty="0"/>
              <a:t>)$'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LEA         DX,  </a:t>
            </a:r>
            <a:r>
              <a:rPr lang="en-US" altLang="zh-CN" dirty="0" err="1" smtClean="0"/>
              <a:t>string_main</a:t>
            </a:r>
            <a:endParaRPr lang="en-US" altLang="zh-CN" dirty="0"/>
          </a:p>
          <a:p>
            <a:r>
              <a:rPr lang="en-US" altLang="zh-CN" dirty="0" smtClean="0"/>
              <a:t>MOV       AH, 09H</a:t>
            </a:r>
            <a:endParaRPr lang="en-US" altLang="zh-CN" dirty="0"/>
          </a:p>
          <a:p>
            <a:r>
              <a:rPr lang="en-US" altLang="zh-CN" dirty="0" smtClean="0"/>
              <a:t>INT          21H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85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7319" y="336374"/>
            <a:ext cx="10178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   MOV 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01H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；从键盘输入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ASCII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到</a:t>
            </a:r>
            <a:r>
              <a:rPr lang="zh-CN" altLang="en-US" sz="2800" b="1" dirty="0">
                <a:solidFill>
                  <a:srgbClr val="FF0000"/>
                </a:solidFill>
              </a:rPr>
              <a:t>寄存器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，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AL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 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/>
              <a:t>    INT        21H </a:t>
            </a:r>
            <a:endParaRPr lang="zh-CN" altLang="en-US" sz="2800" b="1" dirty="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040977" y="1271064"/>
            <a:ext cx="9764485" cy="17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0875" y="2035181"/>
            <a:ext cx="11288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   MOV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0AH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；从键盘输入</a:t>
            </a:r>
            <a:r>
              <a:rPr lang="zh-CN" altLang="en-US" sz="2800" b="1" dirty="0">
                <a:solidFill>
                  <a:srgbClr val="FF0000"/>
                </a:solidFill>
              </a:rPr>
              <a:t>字符串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到存储器，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DS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：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DX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 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/>
              <a:t>    INT       21h </a:t>
            </a:r>
            <a:r>
              <a:rPr lang="en-US" altLang="zh-CN" sz="2800" b="1" dirty="0" smtClean="0"/>
              <a:t>              </a:t>
            </a:r>
            <a:endParaRPr lang="zh-CN" altLang="en-US" sz="2800" b="1" dirty="0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909774" y="3052883"/>
            <a:ext cx="9764485" cy="17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62526" y="1478165"/>
            <a:ext cx="325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这个功能在本编译环境用不成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6591" y="3171922"/>
            <a:ext cx="11288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   MOV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2AH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；取系统日期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/>
              <a:t>    INT       21h </a:t>
            </a:r>
            <a:r>
              <a:rPr lang="en-US" altLang="zh-CN" sz="2800" b="1" dirty="0" smtClean="0"/>
              <a:t>                      </a:t>
            </a:r>
            <a:r>
              <a:rPr lang="zh-CN" altLang="en-US" sz="2800" b="1" dirty="0" smtClean="0"/>
              <a:t>；</a:t>
            </a:r>
            <a:r>
              <a:rPr lang="en-US" altLang="zh-CN" sz="2800" b="1" dirty="0"/>
              <a:t>CX</a:t>
            </a:r>
            <a:r>
              <a:rPr lang="zh-CN" altLang="en-US" sz="2800" b="1" dirty="0"/>
              <a:t>：</a:t>
            </a:r>
            <a:r>
              <a:rPr lang="zh-CN" altLang="en-US" sz="2800" b="1" dirty="0" smtClean="0"/>
              <a:t>年，</a:t>
            </a:r>
            <a:r>
              <a:rPr lang="en-US" altLang="zh-CN" sz="2800" b="1" dirty="0" smtClean="0"/>
              <a:t>DH</a:t>
            </a:r>
            <a:r>
              <a:rPr lang="zh-CN" altLang="en-US" sz="2800" b="1" dirty="0" smtClean="0"/>
              <a:t>：月，</a:t>
            </a:r>
            <a:r>
              <a:rPr lang="en-US" altLang="zh-CN" sz="2800" b="1" dirty="0" smtClean="0"/>
              <a:t>DL</a:t>
            </a:r>
            <a:r>
              <a:rPr lang="zh-CN" altLang="en-US" sz="2800" b="1" dirty="0" smtClean="0"/>
              <a:t>：日，</a:t>
            </a:r>
            <a:r>
              <a:rPr lang="en-US" altLang="zh-CN" sz="2800" b="1" dirty="0" smtClean="0"/>
              <a:t>AL</a:t>
            </a:r>
            <a:r>
              <a:rPr lang="zh-CN" altLang="en-US" sz="2800" b="1" dirty="0" smtClean="0"/>
              <a:t>：星期几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676591" y="4126029"/>
            <a:ext cx="11288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   MOV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2CH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；取系统时间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/>
              <a:t>    INT       21h </a:t>
            </a:r>
            <a:r>
              <a:rPr lang="en-US" altLang="zh-CN" sz="2800" b="1" dirty="0" smtClean="0"/>
              <a:t>                      </a:t>
            </a:r>
            <a:r>
              <a:rPr lang="zh-CN" altLang="en-US" sz="2800" b="1" dirty="0" smtClean="0"/>
              <a:t>；</a:t>
            </a:r>
            <a:r>
              <a:rPr lang="en-US" altLang="zh-CN" sz="2800" b="1" dirty="0"/>
              <a:t>CX</a:t>
            </a:r>
            <a:r>
              <a:rPr lang="zh-CN" altLang="en-US" sz="2800" b="1" dirty="0"/>
              <a:t>：</a:t>
            </a:r>
            <a:r>
              <a:rPr lang="zh-CN" altLang="en-US" sz="2800" b="1" dirty="0" smtClean="0"/>
              <a:t>年，</a:t>
            </a:r>
            <a:r>
              <a:rPr lang="en-US" altLang="zh-CN" sz="2800" b="1" dirty="0" smtClean="0"/>
              <a:t>DH</a:t>
            </a:r>
            <a:r>
              <a:rPr lang="zh-CN" altLang="en-US" sz="2800" b="1" dirty="0" smtClean="0"/>
              <a:t>：月，</a:t>
            </a:r>
            <a:r>
              <a:rPr lang="en-US" altLang="zh-CN" sz="2800" b="1" dirty="0" smtClean="0"/>
              <a:t>DL</a:t>
            </a:r>
            <a:r>
              <a:rPr lang="zh-CN" altLang="en-US" sz="2800" b="1" dirty="0" smtClean="0"/>
              <a:t>：日，</a:t>
            </a:r>
            <a:r>
              <a:rPr lang="en-US" altLang="zh-CN" sz="2800" b="1" dirty="0" smtClean="0"/>
              <a:t>AL</a:t>
            </a:r>
            <a:r>
              <a:rPr lang="zh-CN" altLang="en-US" sz="2800" b="1" dirty="0" smtClean="0"/>
              <a:t>：星期几</a:t>
            </a:r>
            <a:endParaRPr lang="zh-CN" altLang="en-US" sz="2800" b="1" dirty="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1130926" y="5157836"/>
            <a:ext cx="9764485" cy="179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76591" y="5501422"/>
            <a:ext cx="112882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    MOV    AH,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0BH             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；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设置系统日期</a:t>
            </a:r>
            <a:endParaRPr lang="en-US" altLang="zh-CN" sz="2800" b="1" dirty="0" smtClean="0">
              <a:solidFill>
                <a:srgbClr val="FF0000"/>
              </a:solidFill>
            </a:endParaRPr>
          </a:p>
          <a:p>
            <a:r>
              <a:rPr lang="en-US" altLang="zh-CN" sz="2800" b="1" dirty="0" smtClean="0"/>
              <a:t>    INT       21h </a:t>
            </a:r>
            <a:r>
              <a:rPr lang="en-US" altLang="zh-CN" sz="2800" b="1" dirty="0" smtClean="0"/>
              <a:t>              </a:t>
            </a:r>
            <a:endParaRPr lang="zh-CN" altLang="en-US" sz="28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962526" y="5227725"/>
            <a:ext cx="325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这个功能在本编译环境用不成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483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75008"/>
            <a:ext cx="10515600" cy="5901955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通过子程序调用实现以下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个功能（通过从键盘输入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1-5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实现功能选择）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）功能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：把存储器空间的一串字符串实现小写转大写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EG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dirty="0" err="1" smtClean="0">
                <a:latin typeface="黑体" panose="02010609060101010101" pitchFamily="49" charset="-122"/>
                <a:ea typeface="黑体" panose="02010609060101010101" pitchFamily="49" charset="-122"/>
              </a:rPr>
              <a:t>Xidian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University 2024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    XIDIAN UNIVERSITY 2024</a:t>
            </a:r>
          </a:p>
          <a:p>
            <a:pPr marL="0" indent="0">
              <a:buNone/>
            </a:pP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：在存储器空间中一串字符串中找出最大值显示出来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显示结果： </a:t>
            </a:r>
            <a:r>
              <a:rPr lang="pt-BR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'Xidian University 2024', 0F1H, 25H, </a:t>
            </a: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0DH</a:t>
            </a:r>
          </a:p>
          <a:p>
            <a:pPr marL="0" indent="0">
              <a:buNone/>
            </a:pPr>
            <a:r>
              <a:rPr lang="pt-BR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 The maxmum number is : 0F1H</a:t>
            </a:r>
          </a:p>
          <a:p>
            <a:pPr marL="0" indent="0">
              <a:buNone/>
            </a:pP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 将存储器中的一段数组排序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显示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结果：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05H,81H,32H,44H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      81H,44H,32H,05H</a:t>
            </a: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0" indent="0">
              <a:buNone/>
            </a:pP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：显示系统时间： 时：分：秒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）功能</a:t>
            </a:r>
            <a:r>
              <a:rPr lang="en-US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：回到功能选择</a:t>
            </a:r>
            <a:r>
              <a:rPr lang="pt-BR" altLang="zh-CN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976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注意：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）提供给大家的测试变量</a:t>
            </a:r>
            <a:endParaRPr lang="en-US" altLang="zh-CN" dirty="0" smtClean="0"/>
          </a:p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）变量的数据长度如何计算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           </a:t>
            </a:r>
            <a:r>
              <a:rPr lang="zh-CN" altLang="en-US" dirty="0" smtClean="0"/>
              <a:t>注意“         ”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71" y="512566"/>
            <a:ext cx="6333696" cy="93700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362" y="3325268"/>
            <a:ext cx="672990" cy="48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5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 灵活运用：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LOOP  </a:t>
            </a:r>
            <a:r>
              <a:rPr lang="zh-CN" altLang="en-US" dirty="0" smtClean="0"/>
              <a:t>     </a:t>
            </a:r>
            <a:r>
              <a:rPr lang="en-US" altLang="zh-CN" dirty="0" smtClean="0"/>
              <a:t>LOOPZ(</a:t>
            </a:r>
            <a:r>
              <a:rPr lang="zh-CN" altLang="en-US" dirty="0" smtClean="0"/>
              <a:t>找不同</a:t>
            </a:r>
            <a:r>
              <a:rPr lang="en-US" altLang="zh-CN" dirty="0" smtClean="0"/>
              <a:t>)    LOOPNZ</a:t>
            </a:r>
            <a:r>
              <a:rPr lang="zh-CN" altLang="en-US" dirty="0" smtClean="0"/>
              <a:t>（找相同）</a:t>
            </a:r>
            <a:endParaRPr lang="en-US" altLang="zh-CN" dirty="0" smtClean="0"/>
          </a:p>
          <a:p>
            <a:r>
              <a:rPr lang="en-US" altLang="zh-CN" dirty="0" smtClean="0"/>
              <a:t>REP           REPZ                       REPNE</a:t>
            </a:r>
          </a:p>
          <a:p>
            <a:r>
              <a:rPr lang="en-US" altLang="zh-CN" dirty="0" smtClean="0"/>
              <a:t>JA    JB    JZ    JMP</a:t>
            </a:r>
          </a:p>
          <a:p>
            <a:r>
              <a:rPr lang="zh-CN" altLang="en-US" dirty="0" smtClean="0"/>
              <a:t>注意子程序编写过程中的现场保护和参数传递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91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系统时间读取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9" b="-2800"/>
          <a:stretch/>
        </p:blipFill>
        <p:spPr>
          <a:xfrm>
            <a:off x="1830753" y="1505665"/>
            <a:ext cx="7627268" cy="1533168"/>
          </a:xfrm>
        </p:spPr>
      </p:pic>
      <p:sp>
        <p:nvSpPr>
          <p:cNvPr id="5" name="文本框 4"/>
          <p:cNvSpPr txBox="1"/>
          <p:nvPr/>
        </p:nvSpPr>
        <p:spPr>
          <a:xfrm>
            <a:off x="3320716" y="3733227"/>
            <a:ext cx="3602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Mov</a:t>
            </a:r>
            <a:r>
              <a:rPr lang="en-US" altLang="zh-CN" dirty="0" smtClean="0"/>
              <a:t>    AH  00H</a:t>
            </a:r>
          </a:p>
          <a:p>
            <a:r>
              <a:rPr lang="en-US" altLang="zh-CN" dirty="0" smtClean="0"/>
              <a:t>INT      1AH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218267" y="1494681"/>
            <a:ext cx="151253" cy="543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77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135188" y="3866356"/>
            <a:ext cx="1800572" cy="498748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循环程序的设计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135188" y="1573422"/>
            <a:ext cx="7777162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．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5  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在缓冲区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DATABUF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中保存有一组无符号数据（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位），其数据个数存放在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DATABUF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的第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个字节中，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要求编写程序将数据按递增顺序排列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algn="l"/>
            <a:endParaRPr lang="zh-CN" altLang="en-US" sz="2400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：这里采用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双重循环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实现数据的排序，这可使程序变得简单。要对</a:t>
            </a:r>
            <a:r>
              <a:rPr lang="en-US" altLang="zh-CN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个数据进行从小到大排序时，可以采用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冒泡法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从后往前，每两个数据进行比较，当前者大于后者时，交换两者的次序；否则不变，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这样，经过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次比较，可以将最小值交换到第一个单元（最轻的气泡最先冒出水面）。接着对后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个数据，重复上述过程，使次小值交换到第二个单元；依此类推，共进行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楷体_GB2312" pitchFamily="49" charset="-122"/>
                <a:ea typeface="楷体_GB2312" pitchFamily="49" charset="-122"/>
              </a:rPr>
              <a:t>次比较过程，可以完成数据的排序操作</a:t>
            </a:r>
            <a:r>
              <a:rPr lang="zh-CN" altLang="en-US" sz="24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r>
              <a:rPr lang="zh-CN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31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循环程序的设计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133600" y="1295401"/>
            <a:ext cx="80772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ahoma" pitchFamily="34" charset="0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b="0" dirty="0">
                <a:latin typeface="Times New Roman" pitchFamily="18" charset="0"/>
                <a:ea typeface="宋体" charset="-122"/>
              </a:rPr>
              <a:t>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下面是对有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7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个元素的次序表进行冒泡排序的过程。 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表的初始状态：              ［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43  36  65  95  81  12  25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］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第一遍扫描比较之后： 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12  43 36 65 95 81 25                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第二遍扫描比较之后：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12  25   43 36 65 95 81  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第三遍扫描比较之后：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12   25  36  43 65 95 81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第四遍扫描比较之后：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……………………….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第五遍扫描比较之后：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…………………….</a:t>
            </a:r>
          </a:p>
          <a:p>
            <a:pPr algn="l" eaLnBrk="1" hangingPunct="1">
              <a:lnSpc>
                <a:spcPct val="12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    </a:t>
            </a:r>
            <a:r>
              <a:rPr lang="zh-CN" altLang="en-US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第六遍扫描比较之后：      </a:t>
            </a:r>
            <a:r>
              <a:rPr lang="en-US" altLang="zh-CN" sz="2400" dirty="0">
                <a:solidFill>
                  <a:srgbClr val="080808"/>
                </a:solidFill>
                <a:latin typeface="Times New Roman" pitchFamily="18" charset="0"/>
                <a:ea typeface="宋体" charset="-122"/>
              </a:rPr>
              <a:t>12   25  36   43  65  81  95 </a:t>
            </a:r>
          </a:p>
        </p:txBody>
      </p:sp>
    </p:spTree>
    <p:extLst>
      <p:ext uri="{BB962C8B-B14F-4D97-AF65-F5344CB8AC3E}">
        <p14:creationId xmlns:p14="http://schemas.microsoft.com/office/powerpoint/2010/main" val="128116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9536" y="3789040"/>
            <a:ext cx="6552728" cy="648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循环程序的设计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063553" y="1269344"/>
            <a:ext cx="813752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由于每次比较操作都在相邻两个单元进行，因此只需要一个指针。汇编语言程序如下：</a:t>
            </a:r>
          </a:p>
          <a:p>
            <a:pPr algn="l"/>
            <a:r>
              <a:rPr lang="zh-CN" altLang="en-US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N=100			</a:t>
            </a:r>
            <a:r>
              <a:rPr lang="zh-CN" altLang="en-US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；设有</a:t>
            </a:r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个数据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STACK   SEGMENT STACK </a:t>
            </a:r>
            <a:r>
              <a:rPr lang="en-US" altLang="zh-CN" sz="20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‘</a:t>
            </a:r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STACK</a:t>
            </a:r>
            <a:r>
              <a:rPr lang="en-US" altLang="zh-CN" sz="2000" b="1" dirty="0">
                <a:solidFill>
                  <a:srgbClr val="080808"/>
                </a:solidFill>
                <a:latin typeface="Times New Roman" pitchFamily="18" charset="0"/>
                <a:ea typeface="楷体_GB2312" pitchFamily="49" charset="-122"/>
              </a:rPr>
              <a:t>’</a:t>
            </a:r>
            <a:endParaRPr lang="en-US" altLang="zh-CN" sz="2000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DW 100H DUP(?)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TOP     LABEL WORD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STACK   ENDS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    SEGMENT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DATABUF DW N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DB N DUP(</a:t>
            </a:r>
            <a:r>
              <a:rPr lang="zh-CN" altLang="en-US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    ENDS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CODE    SEGMENT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ASSUME CS:CODE,DS:DATA,ES:DATA,SS:STACK</a:t>
            </a:r>
          </a:p>
          <a:p>
            <a:pPr algn="l"/>
            <a:r>
              <a:rPr lang="en-US" altLang="zh-CN" sz="2000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891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循环程序的设计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271464" y="1841451"/>
            <a:ext cx="457200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START: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MOV AX,DATA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MOV DS,AX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MOV ES,AX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MOV AX,STACK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MOV SS,AX 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LEA SP,TOP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为了能够进行排序，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DATABUF </a:t>
            </a:r>
            <a:endParaRPr lang="en-US" altLang="zh-CN" b="1" dirty="0">
              <a:solidFill>
                <a:srgbClr val="00B050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466725"/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；中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必须已经保存数据， </a:t>
            </a:r>
          </a:p>
          <a:p>
            <a:pPr indent="466725"/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 ；因此我们产生一组随机数据</a:t>
            </a:r>
          </a:p>
          <a:p>
            <a:pPr indent="466725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CX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DATABUF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LEA SI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DATABUF+2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159896" y="1783122"/>
            <a:ext cx="555152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	MOV BL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23</a:t>
            </a:r>
          </a:p>
          <a:p>
            <a:pPr indent="46672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AL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11</a:t>
            </a:r>
            <a:endParaRPr lang="en-US" altLang="zh-CN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LP:</a:t>
            </a:r>
            <a:r>
              <a:rPr lang="en-US" altLang="zh-CN" sz="1400" b="1" dirty="0"/>
              <a:t>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[SI],AL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INC SI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ADD AL,BL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LOOP LP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; 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下面给出数据排序程序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CX,DATABUF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	  DEC CX	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外循环次数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LEA SI,DATABUF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＋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SI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指向数据区首地址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ADD SI,CX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SI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指向数据区末地址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LP1:			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外循环开始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PUSH CX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PUSH SI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8400256" y="1841450"/>
            <a:ext cx="1979712" cy="1155502"/>
          </a:xfrm>
          <a:prstGeom prst="wedgeRoundRectCallout">
            <a:avLst>
              <a:gd name="adj1" fmla="val -98854"/>
              <a:gd name="adj2" fmla="val 32557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生成随机数组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14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循环程序的设计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279576" y="1268761"/>
            <a:ext cx="8964612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LP2:	             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；内循环开始，其循环次数恰好       </a:t>
            </a:r>
          </a:p>
          <a:p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             ；与外循环的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CX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值一致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AL,[SI]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CMP AL,[SI-1]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JAE NOXCHG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XCHG AL,[SI-1]	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；交换操作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[SI],AL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NOXCHG: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DEC SI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LOOP LP2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POP SI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POP CX</a:t>
            </a:r>
          </a:p>
          <a:p>
            <a:pPr algn="l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LOOP LP1</a:t>
            </a:r>
          </a:p>
          <a:p>
            <a:pPr algn="l"/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；数据排序结束</a:t>
            </a:r>
            <a:endParaRPr lang="en-US" altLang="zh-CN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  <a:p>
            <a:pPr lvl="1" indent="269875"/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MOV AH,4CH      ;</a:t>
            </a:r>
            <a:r>
              <a:rPr lang="zh-CN" altLang="en-US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返回</a:t>
            </a:r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DOS</a:t>
            </a:r>
          </a:p>
          <a:p>
            <a:pPr lvl="1" indent="26987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INT 21H</a:t>
            </a:r>
          </a:p>
          <a:p>
            <a:pPr lvl="1" indent="26987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CODE    ENDS</a:t>
            </a:r>
          </a:p>
          <a:p>
            <a:pPr lvl="1" indent="269875"/>
            <a:r>
              <a:rPr lang="en-US" altLang="zh-CN" b="1" dirty="0">
                <a:solidFill>
                  <a:srgbClr val="080808"/>
                </a:solidFill>
                <a:latin typeface="楷体_GB2312" pitchFamily="49" charset="-122"/>
                <a:ea typeface="楷体_GB2312" pitchFamily="49" charset="-122"/>
              </a:rPr>
              <a:t>        END START</a:t>
            </a:r>
            <a:endParaRPr lang="zh-CN" altLang="en-US" b="1" dirty="0">
              <a:solidFill>
                <a:srgbClr val="080808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5159896" y="3220526"/>
            <a:ext cx="1728192" cy="784538"/>
          </a:xfrm>
          <a:prstGeom prst="wedgeRoundRectCallout">
            <a:avLst>
              <a:gd name="adj1" fmla="val -113784"/>
              <a:gd name="adj2" fmla="val 10469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内循环的地址修正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600056" y="4186601"/>
            <a:ext cx="3672408" cy="909770"/>
          </a:xfrm>
          <a:prstGeom prst="wedgeRoundRectCallout">
            <a:avLst>
              <a:gd name="adj1" fmla="val -113784"/>
              <a:gd name="adj2" fmla="val 14168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0000"/>
                </a:solidFill>
              </a:rPr>
              <a:t>外循环不用地址修，</a:t>
            </a:r>
            <a:r>
              <a:rPr lang="en-US" altLang="zh-CN" sz="2000" b="1" dirty="0">
                <a:solidFill>
                  <a:srgbClr val="FF0000"/>
                </a:solidFill>
              </a:rPr>
              <a:t>SI</a:t>
            </a:r>
            <a:r>
              <a:rPr lang="zh-CN" altLang="en-US" sz="2000" b="1" dirty="0">
                <a:solidFill>
                  <a:srgbClr val="FF0000"/>
                </a:solidFill>
              </a:rPr>
              <a:t>始终指向队尾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ctr"/>
            <a:r>
              <a:rPr lang="en-US" altLang="zh-CN" sz="2000" b="1" dirty="0">
                <a:solidFill>
                  <a:srgbClr val="FF0000"/>
                </a:solidFill>
              </a:rPr>
              <a:t>CX</a:t>
            </a:r>
            <a:r>
              <a:rPr lang="zh-CN" altLang="en-US" sz="2000" b="1" dirty="0">
                <a:solidFill>
                  <a:srgbClr val="FF0000"/>
                </a:solidFill>
              </a:rPr>
              <a:t>逐次减小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87688" y="4641486"/>
            <a:ext cx="1008112" cy="2996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7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829</Words>
  <Application>Microsoft Office PowerPoint</Application>
  <PresentationFormat>宽屏</PresentationFormat>
  <Paragraphs>137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黑体</vt:lpstr>
      <vt:lpstr>华文琥珀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上机课程</vt:lpstr>
      <vt:lpstr>作业：</vt:lpstr>
      <vt:lpstr>PowerPoint 演示文稿</vt:lpstr>
      <vt:lpstr>PowerPoint 演示文稿</vt:lpstr>
      <vt:lpstr>PowerPoint 演示文稿</vt:lpstr>
      <vt:lpstr>PowerPoint 演示文稿</vt:lpstr>
      <vt:lpstr>变量</vt:lpstr>
      <vt:lpstr> 灵活运用：</vt:lpstr>
      <vt:lpstr>系统时间读取</vt:lpstr>
      <vt:lpstr>循环程序的设计</vt:lpstr>
      <vt:lpstr>循环程序的设计</vt:lpstr>
      <vt:lpstr>循环程序的设计</vt:lpstr>
      <vt:lpstr>循环程序的设计</vt:lpstr>
      <vt:lpstr>循环程序的设计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上机课程</dc:title>
  <dc:creator>王晓甜</dc:creator>
  <cp:lastModifiedBy>王晓甜</cp:lastModifiedBy>
  <cp:revision>21</cp:revision>
  <dcterms:created xsi:type="dcterms:W3CDTF">2024-10-21T14:58:43Z</dcterms:created>
  <dcterms:modified xsi:type="dcterms:W3CDTF">2024-10-23T04:16:30Z</dcterms:modified>
</cp:coreProperties>
</file>